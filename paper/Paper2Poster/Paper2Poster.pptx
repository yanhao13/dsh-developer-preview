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E8ED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254531"/>
            <a:ext cx="10804961" cy="7089497"/>
          </a:xfrm>
          <a:prstGeom prst="roundRect">
            <a:avLst>
              <a:gd name="adj" fmla="val 2340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6254531"/>
            <a:ext cx="13506133" cy="4536401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6254531"/>
            <a:ext cx="13506271" cy="6778764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6254531"/>
            <a:ext cx="10804962" cy="9715242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3568" y="11122779"/>
            <a:ext cx="13506133" cy="7526635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816421" y="13365142"/>
            <a:ext cx="13506271" cy="16706810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3675875"/>
            <a:ext cx="10804961" cy="16396077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16301620"/>
            <a:ext cx="10804962" cy="4845189"/>
          </a:xfrm>
          <a:prstGeom prst="roundRect">
            <a:avLst>
              <a:gd name="adj" fmla="val 342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3568" y="18981261"/>
            <a:ext cx="13506133" cy="11090691"/>
          </a:xfrm>
          <a:prstGeom prst="roundRect">
            <a:avLst>
              <a:gd name="adj" fmla="val 1496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49412" y="21478656"/>
            <a:ext cx="10804962" cy="2866192"/>
          </a:xfrm>
          <a:prstGeom prst="roundRect">
            <a:avLst>
              <a:gd name="adj" fmla="val 5789"/>
            </a:avLst>
          </a:prstGeom>
          <a:solidFill>
            <a:srgbClr val="EDF1F7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21478656"/>
            <a:ext cx="53340" cy="2866192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49412" y="24676695"/>
            <a:ext cx="10804962" cy="5395257"/>
          </a:xfrm>
          <a:prstGeom prst="roundRect">
            <a:avLst>
              <a:gd name="adj" fmla="val 307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king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5582" y="3958197"/>
            <a:ext cx="1463794" cy="1466722"/>
          </a:xfrm>
          <a:prstGeom prst="rect">
            <a:avLst/>
          </a:prstGeom>
        </p:spPr>
      </p:pic>
      <p:pic>
        <p:nvPicPr>
          <p:cNvPr id="16" name="Picture 15" descr="deepseek-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6350" y="3958145"/>
            <a:ext cx="6854329" cy="146682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39991" y="6642635"/>
            <a:ext cx="1002875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7552888"/>
            <a:ext cx="10028753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271672" y="6642635"/>
            <a:ext cx="12729925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271672" y="7552888"/>
            <a:ext cx="12729925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37516" y="6642635"/>
            <a:ext cx="1002875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37516" y="7552888"/>
            <a:ext cx="10028754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9991" y="7899598"/>
            <a:ext cx="10028753" cy="5058827"/>
          </a:xfrm>
          <a:prstGeom prst="roundRect">
            <a:avLst>
              <a:gd name="adj" fmla="val 4123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204525" y="11066938"/>
            <a:ext cx="12730063" cy="1437541"/>
          </a:xfrm>
          <a:prstGeom prst="roundRect">
            <a:avLst>
              <a:gd name="adj" fmla="val 15673"/>
            </a:avLst>
          </a:prstGeom>
          <a:solidFill>
            <a:srgbClr val="F1F3F8"/>
          </a:solidFill>
          <a:ln w="8890">
            <a:solidFill>
              <a:srgbClr val="B6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37516" y="13773804"/>
            <a:ext cx="1002875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137516" y="13773804"/>
            <a:ext cx="10028754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9991" y="14063980"/>
            <a:ext cx="1002875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9991" y="14974232"/>
            <a:ext cx="10028753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37516" y="16689724"/>
            <a:ext cx="10028754" cy="856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137516" y="17528857"/>
            <a:ext cx="10028754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137516" y="17546637"/>
            <a:ext cx="10028754" cy="3425428"/>
          </a:xfrm>
          <a:prstGeom prst="roundRect">
            <a:avLst>
              <a:gd name="adj" fmla="val 2076"/>
            </a:avLst>
          </a:prstGeom>
          <a:gradFill rotWithShape="1" flip="none">
            <a:gsLst>
              <a:gs pos="0">
                <a:srgbClr val="E4E7F1"/>
              </a:gs>
              <a:gs pos="100000">
                <a:srgbClr val="F1F3F8"/>
              </a:gs>
            </a:gsLst>
            <a:lin ang="5400000" scaled="0"/>
          </a:gradFill>
          <a:ln w="8890">
            <a:solidFill>
              <a:srgbClr val="C6CEE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181966" y="21772026"/>
            <a:ext cx="998430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181966" y="22682279"/>
            <a:ext cx="9984304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181966" y="22806461"/>
            <a:ext cx="998430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181966" y="22806461"/>
            <a:ext cx="124460" cy="1481019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39991" y="26008111"/>
            <a:ext cx="10028753" cy="3681988"/>
          </a:xfrm>
          <a:prstGeom prst="roundRect">
            <a:avLst>
              <a:gd name="adj" fmla="val 5665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204525" y="26308982"/>
            <a:ext cx="12730063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204525" y="26308982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271672" y="27362030"/>
            <a:ext cx="12729925" cy="2325986"/>
          </a:xfrm>
          <a:prstGeom prst="roundRect">
            <a:avLst>
              <a:gd name="adj" fmla="val 8969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6204525" y="6642635"/>
            <a:ext cx="657026" cy="65702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137516" y="7908349"/>
            <a:ext cx="4495562" cy="2853273"/>
          </a:xfrm>
          <a:prstGeom prst="roundRect">
            <a:avLst>
              <a:gd name="adj" fmla="val 7311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670569" y="7908349"/>
            <a:ext cx="4495701" cy="5689044"/>
          </a:xfrm>
          <a:prstGeom prst="roundRect">
            <a:avLst>
              <a:gd name="adj" fmla="val 4640"/>
            </a:avLst>
          </a:prstGeom>
          <a:solidFill>
            <a:srgbClr val="F1F3F8"/>
          </a:solidFill>
          <a:ln w="889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2271672" y="11510883"/>
            <a:ext cx="657027" cy="657026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204525" y="13753246"/>
            <a:ext cx="657026" cy="65702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271672" y="17444263"/>
            <a:ext cx="2040116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inverse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468197" y="17444263"/>
            <a:ext cx="4255948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LIFO accumulator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880554" y="17444263"/>
            <a:ext cx="2433776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ctx.effect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470739" y="17444263"/>
            <a:ext cx="2162631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dispose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4187" y="17768887"/>
            <a:ext cx="4196218" cy="302843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4187" y="17768887"/>
            <a:ext cx="11557" cy="3028434"/>
          </a:xfrm>
          <a:prstGeom prst="rect">
            <a:avLst/>
          </a:prstGeom>
          <a:solidFill>
            <a:srgbClr val="C6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2271672" y="19369365"/>
            <a:ext cx="657027" cy="657026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271672" y="20588823"/>
            <a:ext cx="1878429" cy="894278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9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67" b="1">
                <a:solidFill>
                  <a:srgbClr val="1D3A87"/>
                </a:solidFill>
                <a:latin typeface="Arial"/>
              </a:rPr>
              <a:t>declare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984511" y="20588823"/>
            <a:ext cx="1878568" cy="894278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9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67" b="1">
                <a:solidFill>
                  <a:srgbClr val="1D3A87"/>
                </a:solidFill>
                <a:latin typeface="Arial"/>
              </a:rPr>
              <a:t>resolve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697489" y="20588823"/>
            <a:ext cx="1878429" cy="894278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9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67" b="1">
                <a:solidFill>
                  <a:srgbClr val="1D3A87"/>
                </a:solidFill>
                <a:latin typeface="Arial"/>
              </a:rPr>
              <a:t>notify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0410328" y="20588823"/>
            <a:ext cx="1878429" cy="894278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9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67" b="1">
                <a:solidFill>
                  <a:srgbClr val="1D3A87"/>
                </a:solidFill>
                <a:latin typeface="Arial"/>
              </a:rPr>
              <a:t>classify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123167" y="20588823"/>
            <a:ext cx="1878430" cy="894278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9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67" b="1">
                <a:solidFill>
                  <a:srgbClr val="1D3A87"/>
                </a:solidFill>
                <a:latin typeface="Arial"/>
              </a:rPr>
              <a:t>refresh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713616" y="23864510"/>
            <a:ext cx="11711881" cy="1778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6694030" y="26465391"/>
            <a:ext cx="1979553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PROVED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271672" y="8151435"/>
            <a:ext cx="12729925" cy="1529636"/>
          </a:xfrm>
          <a:prstGeom prst="roundRect">
            <a:avLst>
              <a:gd name="adj" fmla="val 232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page29_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1883" y="8151435"/>
            <a:ext cx="12729502" cy="1529636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6231055" y="25064799"/>
            <a:ext cx="3935215" cy="3935214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9588" y="25183332"/>
            <a:ext cx="3698148" cy="3698148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40137516" y="26817935"/>
            <a:ext cx="5737939" cy="515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137516" y="27315636"/>
            <a:ext cx="5737939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599699" y="29142253"/>
            <a:ext cx="1197927" cy="541595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1D3A87"/>
                </a:solidFill>
                <a:latin typeface="Arial"/>
              </a:rPr>
              <a:t>Code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1D3A87"/>
                </a:solidFill>
                <a:latin typeface="Arial"/>
              </a:rPr>
              <a:t>A Programming Paradigm for Spatiotemporal Composability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Yifan Shi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4106" b="0">
                <a:solidFill>
                  <a:srgbClr val="1B2331"/>
                </a:solidFill>
                <a:latin typeface="Arial"/>
              </a:rPr>
              <a:t>, Wei Zhang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Tianyi Cui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Peking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DeepSeek-AI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991" y="6642635"/>
            <a:ext cx="10329615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Problem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271672" y="6642635"/>
            <a:ext cx="13111822" cy="1067237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Method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137516" y="6642635"/>
            <a:ext cx="10329616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Key Results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204525" y="7565945"/>
            <a:ext cx="13111964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single self-similar type joins the two halves — state,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accumulator, and dependency store — so every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interaction with the environment passes through one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entity — the context.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91" y="7899598"/>
            <a:ext cx="10329615" cy="5817651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Plugin systems and self-evolving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agent harnesses must load, unload,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and reconfigure components at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runtime — yet the formal foundations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of dynamic composition remain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underdeveloped, and practice falls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back to restarts and orchestration.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669694" y="12064146"/>
            <a:ext cx="8033716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state × accumulator × coeffects — one recursive type (Definition 32)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137516" y="13773804"/>
            <a:ext cx="10329616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4,000+ Koishi plugins validate it; the metatheory proves it.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991" y="14063980"/>
            <a:ext cx="10329615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Motivation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137516" y="16689724"/>
            <a:ext cx="10329616" cy="985449"/>
          </a:xfrm>
          <a:prstGeom prst="rect">
            <a:avLst/>
          </a:prstGeom>
          <a:noFill/>
        </p:spPr>
        <p:txBody>
          <a:bodyPr wrap="square" lIns="0" rIns="0" tIns="0" bIns="5689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Headline Numbers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271672" y="21645483"/>
            <a:ext cx="13111822" cy="60874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Each context change is tested against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component's declared spec and classified activating,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deactivating, or neutral — only dependents whose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resolved dependency changed refresh. Isolation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(ctx.isolate) redirects what a declared key resolves to;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interception (ctx.intercept) adjusts how the binding is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used at access time.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181966" y="21772026"/>
            <a:ext cx="10283833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Takeaway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181966" y="22806461"/>
            <a:ext cx="10283833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Load = run tracked effects; unload =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apply their inverses.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9991" y="26008111"/>
            <a:ext cx="10329615" cy="4234286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Cleanup and dependencies stay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plugin author's burden today — this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paper makes them the runtime's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guarantee, discharged once by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abstraction.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271672" y="27362030"/>
            <a:ext cx="13111822" cy="2674883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A provider withdraws a binding only after every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dependent has deactivated — the ordering the base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calculus cannot deliver (Theorem 63).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080467" y="6656248"/>
            <a:ext cx="4167730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1D3A87"/>
                </a:solidFill>
                <a:latin typeface="Arial"/>
              </a:rPr>
              <a:t>Unified Context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426108" y="6775985"/>
            <a:ext cx="4643734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one programming paradigm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763372" y="7908349"/>
            <a:ext cx="800210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D3A87"/>
                </a:solidFill>
                <a:latin typeface="Arial"/>
              </a:rPr>
              <a:t>vs.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147615" y="11524495"/>
            <a:ext cx="4765061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1D3A87"/>
                </a:solidFill>
                <a:latin typeface="Arial"/>
              </a:rPr>
              <a:t>Revertible Effects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190704" y="11644233"/>
            <a:ext cx="3925219" cy="448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temporal composability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271654" y="12359461"/>
            <a:ext cx="131118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Every context mutation carries an explicit inverse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runtime tracks (ctx.effect).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080467" y="13766859"/>
            <a:ext cx="4922012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1D3A87"/>
                </a:solidFill>
                <a:latin typeface="Arial"/>
              </a:rPr>
              <a:t>Lifecycle Calculus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104359" y="13886596"/>
            <a:ext cx="1885135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metatheory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271654" y="14054395"/>
            <a:ext cx="131118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Unloading runs the LIFO accumulator —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component's contribution is recovered, nothing else.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204506" y="14663638"/>
            <a:ext cx="1311198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Components instantiate as fibers ⟨d, p, e, π, σ, τ, θ⟩;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rules L-Begin … L-Raise give the semantics.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271654" y="15749329"/>
            <a:ext cx="131118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Tracking and recovery both preserve composition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(Theorem 7).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9972" y="15849064"/>
            <a:ext cx="1032963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Self-evolving agent harnesses may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rewrite components continuously: every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restart discards process state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disrupts in-flight work.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04506" y="16465252"/>
            <a:ext cx="10785324" cy="1586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Recovery exactness: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                 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— unload leaves nothing behind.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204506" y="18144351"/>
            <a:ext cx="13111984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Ordering, resolution coherence, progress,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confluence all hold; guarantees lift to whole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interleaved systems.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972" y="19056409"/>
            <a:ext cx="1032963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VSCode evidence: 87 of the top 100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extensions need a host restart to unload;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only 7 declare inter-extension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dependencies.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147615" y="19382978"/>
            <a:ext cx="5047345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1D3A87"/>
                </a:solidFill>
                <a:latin typeface="Arial"/>
              </a:rPr>
              <a:t>Reactive Coeffects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548943" y="19502715"/>
            <a:ext cx="3556233" cy="448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Arial"/>
              </a:rPr>
              <a:t>spatial composability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204506" y="20595490"/>
            <a:ext cx="1311198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Confluence (Theorem 73): the quiescent state is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function of the final configuration alone — load order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never matters.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306510" y="20657859"/>
            <a:ext cx="53724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D3A87"/>
                </a:solidFill>
                <a:latin typeface="Arial"/>
              </a:rPr>
              <a:t>→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019488" y="20657859"/>
            <a:ext cx="53724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D3A87"/>
                </a:solidFill>
                <a:latin typeface="Arial"/>
              </a:rPr>
              <a:t>→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732327" y="20657859"/>
            <a:ext cx="53724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D3A87"/>
                </a:solidFill>
                <a:latin typeface="Arial"/>
              </a:rPr>
              <a:t>→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445166" y="20657859"/>
            <a:ext cx="53724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D3A87"/>
                </a:solidFill>
                <a:latin typeface="Arial"/>
              </a:rPr>
              <a:t>→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9972" y="22263754"/>
            <a:ext cx="1032963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coarse-grained workaround —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restarts and orchestration —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mismatches components sharing an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address space.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694030" y="27312580"/>
            <a:ext cx="12231777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Composability is compositional: local guarantees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lift to whole systems — one component's recovery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exactness becomes the system's.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381019" y="8125737"/>
            <a:ext cx="4128812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RESTART-BASED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914071" y="8125737"/>
            <a:ext cx="4128956" cy="1304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CORDIS (THIS</a:t>
            </a:r>
          </a:p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PAPER)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381019" y="8771096"/>
            <a:ext cx="412881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87/100 need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restart to unload.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914071" y="9338250"/>
            <a:ext cx="4128956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Effects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withdrawn in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place; HMR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preserves live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state.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4196218" y="9830673"/>
            <a:ext cx="9147114" cy="639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Two-state workflow of the base calculus (§4.2).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383380" y="18186856"/>
            <a:ext cx="5501031" cy="1294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866"/>
              </a:lnSpc>
              <a:spcBef>
                <a:spcPts val="0"/>
              </a:spcBef>
              <a:spcAft>
                <a:spcPts val="0"/>
              </a:spcAft>
            </a:pPr>
            <a:r>
              <a:rPr sz="9333" b="1" spc="-186">
                <a:solidFill>
                  <a:srgbClr val="1D3A87"/>
                </a:solidFill>
                <a:latin typeface="Arial"/>
              </a:rPr>
              <a:t>4,000+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383380" y="19336444"/>
            <a:ext cx="5501031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Koishi community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plugins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204525" y="23551554"/>
            <a:ext cx="2050528" cy="2860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FFFFFF"/>
                </a:solidFill>
                <a:highlight>
                  <a:srgbClr val="1D3A87"/>
                </a:highlight>
                <a:latin typeface="Arial"/>
              </a:rPr>
              <a:t>base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two-state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lifecycle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8351737" y="23551554"/>
            <a:ext cx="2906966" cy="2860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FFFFFF"/>
                </a:solidFill>
                <a:highlight>
                  <a:srgbClr val="1D3A87"/>
                </a:highlight>
                <a:latin typeface="Arial"/>
              </a:rPr>
              <a:t>withdrawal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dependent-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ordered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teardown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1330443" y="23551554"/>
            <a:ext cx="2348836" cy="2860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FFFFFF"/>
                </a:solidFill>
                <a:highlight>
                  <a:srgbClr val="1D3A87"/>
                </a:highlight>
                <a:latin typeface="Arial"/>
              </a:rPr>
              <a:t>iteration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step-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boundary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interruption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767275" y="23551554"/>
            <a:ext cx="3110559" cy="2860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FFFFFF"/>
                </a:solidFill>
                <a:highlight>
                  <a:srgbClr val="1D3A87"/>
                </a:highlight>
                <a:latin typeface="Arial"/>
              </a:rPr>
              <a:t>asynchrony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transitions in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flight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943645" y="23551554"/>
            <a:ext cx="2050671" cy="2860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FFFFFF"/>
                </a:solidFill>
                <a:highlight>
                  <a:srgbClr val="1D3A87"/>
                </a:highlight>
                <a:latin typeface="Arial"/>
              </a:rPr>
              <a:t>failure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error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1C1C1C"/>
                </a:solidFill>
                <a:latin typeface="Arial"/>
              </a:rPr>
              <a:t>outcomes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137516" y="26817935"/>
            <a:ext cx="5910077" cy="5928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D3A87"/>
                </a:solidFill>
                <a:latin typeface="Arial"/>
              </a:rPr>
              <a:t>Read the paper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137516" y="27499270"/>
            <a:ext cx="5910077" cy="496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97"/>
              </a:lnSpc>
              <a:spcBef>
                <a:spcPts val="0"/>
              </a:spcBef>
              <a:spcAft>
                <a:spcPts val="0"/>
              </a:spcAft>
            </a:pPr>
            <a:r>
              <a:rPr sz="2426" b="0">
                <a:solidFill>
                  <a:srgbClr val="555555"/>
                </a:solidFill>
                <a:latin typeface="Arial"/>
              </a:rPr>
              <a:t>github.com/cordiverse/paper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202441" y="17768887"/>
            <a:ext cx="168397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87/100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019890" y="17893347"/>
            <a:ext cx="1957530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needing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restart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6202441" y="19007514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682779" y="19131974"/>
            <a:ext cx="3334754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dimensions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formalized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202441" y="20246141"/>
            <a:ext cx="61349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6980594" y="20370601"/>
            <a:ext cx="301312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statements proved</a:t>
            </a:r>
          </a:p>
        </p:txBody>
      </p:sp>
      <p:pic>
        <p:nvPicPr>
          <p:cNvPr id="127" name="Picture 126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90783" y="11152227"/>
            <a:ext cx="8157408" cy="800100"/>
          </a:xfrm>
          <a:prstGeom prst="rect">
            <a:avLst/>
          </a:prstGeom>
        </p:spPr>
      </p:pic>
      <p:pic>
        <p:nvPicPr>
          <p:cNvPr id="128" name="Picture 127" descr="eq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78207" y="16367462"/>
            <a:ext cx="10540623" cy="15394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