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7" userDrawn="1">
          <p15:clr>
            <a:srgbClr val="A4A3A4"/>
          </p15:clr>
        </p15:guide>
        <p15:guide id="2" pos="2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7"/>
        <p:guide pos="27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793920" cy="2514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4169664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 Programming Paradigm for Spatiotemporal Composability</a:t>
            </a:r>
            <a:endParaRPr sz="4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966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900" b="1" i="0">
                <a:solidFill>
                  <a:srgbClr val="BDD7EE"/>
                </a:solidFill>
                <a:latin typeface="Calibri"/>
              </a:rPr>
              <a:t>Yifan Shi</a:t>
            </a:r>
            <a:r>
              <a:rPr sz="1400" b="0" i="0">
                <a:solidFill>
                  <a:srgbClr val="BDD7EE"/>
                </a:solidFill>
                <a:latin typeface="Calibri"/>
              </a:rPr>
              <a:t>1,2</a:t>
            </a:r>
            <a:r>
              <a:rPr sz="1900" b="1" i="0">
                <a:solidFill>
                  <a:srgbClr val="BDD7EE"/>
                </a:solidFill>
                <a:latin typeface="Calibri"/>
              </a:rPr>
              <a:t>   ·   Wei Zhang</a:t>
            </a:r>
            <a:r>
              <a:rPr sz="1400" b="0" i="0">
                <a:solidFill>
                  <a:srgbClr val="BDD7EE"/>
                </a:solidFill>
                <a:latin typeface="Calibri"/>
              </a:rPr>
              <a:t>1</a:t>
            </a:r>
            <a:r>
              <a:rPr sz="1900" b="1" i="0">
                <a:solidFill>
                  <a:srgbClr val="BDD7EE"/>
                </a:solidFill>
                <a:latin typeface="Calibri"/>
              </a:rPr>
              <a:t>   ·   Tianyi Cui</a:t>
            </a:r>
            <a:r>
              <a:rPr sz="1400" b="0" i="0">
                <a:solidFill>
                  <a:srgbClr val="BDD7EE"/>
                </a:solidFill>
                <a:latin typeface="Calibri"/>
              </a:rPr>
              <a:t>2</a:t>
            </a:r>
            <a:r>
              <a:rPr sz="1400" b="0" i="0">
                <a:solidFill>
                  <a:srgbClr val="BDD7EE"/>
                </a:solidFill>
                <a:latin typeface="Calibri"/>
              </a:rPr>
              <a:t>      </a:t>
            </a:r>
            <a:r>
              <a:rPr sz="1400" b="0" i="0">
                <a:solidFill>
                  <a:srgbClr val="BDD7EE"/>
                </a:solidFill>
                <a:latin typeface="Calibri"/>
              </a:rPr>
              <a:t>1 Peking University   2 DeepSeek-AI</a:t>
            </a:r>
            <a:endParaRPr sz="1400" b="0" i="0">
              <a:solidFill>
                <a:srgbClr val="BDD7E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34592"/>
            <a:ext cx="41696640" cy="10712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Abstract — </a:t>
            </a:r>
            <a:r>
              <a:rPr sz="1350" b="0" i="0">
                <a:solidFill>
                  <a:srgbClr val="E6ECF7"/>
                </a:solidFill>
                <a:latin typeface="Calibri"/>
              </a:rPr>
              <a:t>Modern software increasingly demands dynamic composition — components loaded, unloaded, and reconfigured at runtime — yet its formal foundations remain underdeveloped. We identify two orthogonal dimensions: temporal composability (a component's</a:t>
            </a:r>
            <a:endParaRPr sz="1350" b="0" i="0">
              <a:solidFill>
                <a:srgbClr val="E6ECF7"/>
              </a:solidFill>
              <a:latin typeface="Calibri"/>
            </a:endParaRPr>
          </a:p>
          <a:p>
            <a:pPr algn="l"/>
            <a:r>
              <a:rPr sz="1350" b="0" i="0">
                <a:solidFill>
                  <a:srgbClr val="E6ECF7"/>
                </a:solidFill>
                <a:latin typeface="Calibri"/>
              </a:rPr>
              <a:t> side effects must be completely and safely reversed on removal) and spatial composability (inter-component dependencies must be declared and reactively managed). We lift effects to a revertible runtime model — every context transformation carries an explicit inverse </a:t>
            </a:r>
            <a:endParaRPr sz="1350" b="0" i="0">
              <a:solidFill>
                <a:srgbClr val="E6ECF7"/>
              </a:solidFill>
              <a:latin typeface="Calibri"/>
            </a:endParaRPr>
          </a:p>
          <a:p>
            <a:pPr algn="l"/>
            <a:r>
              <a:rPr sz="1350" b="0" i="0">
                <a:solidFill>
                  <a:srgbClr val="E6ECF7"/>
                </a:solidFill>
                <a:latin typeface="Calibri"/>
              </a:rPr>
              <a:t>that the runtime tracks — and coeffects to a reactive dependency mechanism — each context change notifies a component against its specification. The two are unified in a single context type, constituting a programming paradigm, and combined into a calculus of dynamic </a:t>
            </a:r>
            <a:endParaRPr sz="1350" b="0" i="0">
              <a:solidFill>
                <a:srgbClr val="E6ECF7"/>
              </a:solidFill>
              <a:latin typeface="Calibri"/>
            </a:endParaRPr>
          </a:p>
          <a:p>
            <a:pPr algn="l"/>
            <a:r>
              <a:rPr sz="1350" b="0" i="0">
                <a:solidFill>
                  <a:srgbClr val="E6ECF7"/>
                </a:solidFill>
                <a:latin typeface="Calibri"/>
              </a:rPr>
              <a:t>composition whose metatheory carries both guarantees from one component to whole interleaved systems. The paradigm is implemented in Cordis: a core library with effect tracking and coeffect resolution, plus a declarative component loader with configuration reconciliation </a:t>
            </a:r>
            <a:endParaRPr sz="1350" b="0" i="0">
              <a:solidFill>
                <a:srgbClr val="E6ECF7"/>
              </a:solidFill>
              <a:latin typeface="Calibri"/>
            </a:endParaRPr>
          </a:p>
          <a:p>
            <a:pPr algn="l"/>
            <a:r>
              <a:rPr sz="1350" b="0" i="0">
                <a:solidFill>
                  <a:srgbClr val="E6ECF7"/>
                </a:solidFill>
                <a:latin typeface="Calibri"/>
              </a:rPr>
              <a:t>and hot module replacement.</a:t>
            </a:r>
            <a:endParaRPr sz="1350" b="0" i="0">
              <a:solidFill>
                <a:srgbClr val="E6ECF7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3063240"/>
            <a:ext cx="10206990" cy="566928"/>
          </a:xfrm>
          <a:prstGeom prst="rect">
            <a:avLst/>
          </a:prstGeom>
          <a:solidFill>
            <a:srgbClr val="2E5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3063240"/>
            <a:ext cx="9987534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1 · Dynamic Composition and Its Two Dimensions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Temporal composability — the time dimension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4133088"/>
            <a:ext cx="1020699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On removal of a component, its modifications to the shared environment must be completely and safely reversed. This requires tracking every resource allocation, event registration, and state mutation, and guaranteeing their orderly reclamation.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974336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Spatial composability — the space dimension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248656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266944"/>
            <a:ext cx="10206990" cy="5212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Components declare, discover, and resolve dependencies in a structured, verifiable manner; lifecycles are coordinated in response to dependency changes — appearances, disappearances, and identity changes during execution.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916167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Motivating evidence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6190487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208775"/>
            <a:ext cx="10206990" cy="17117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404040"/>
                </a:solidFill>
                <a:latin typeface="Calibri"/>
              </a:rPr>
              <a:t>•  Plugin systems (VSCode):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87 of the top 100 extensions carry executable code and need a full host restart to unload; deactivate separates effect disposal from effect creation; only 7 of 100 declare extensionDependencies, and inter-extension exports are untyped.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1" i="0">
                <a:solidFill>
                  <a:srgbClr val="404040"/>
                </a:solidFill>
                <a:latin typeface="Calibri"/>
              </a:rPr>
              <a:t>•  Self-evolving agent harnesses: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continuous self-modification must not force restarts that discard process-local state and disrupt in-flight tasks — a faulty self-modification can disable the very process needed to recover.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1" i="0">
                <a:solidFill>
                  <a:srgbClr val="404040"/>
                </a:solidFill>
                <a:latin typeface="Calibri"/>
              </a:rPr>
              <a:t>•  The coarse-grained workaround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(process restarts, container orchestration) operates at the wrong granularity: restarts lose caches, connections, and partial computations; containers cannot express in-process dependencies.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8048547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Contributions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8322867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8341155"/>
            <a:ext cx="10206990" cy="251825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C55A11"/>
                </a:solidFill>
                <a:latin typeface="Calibri"/>
              </a:rPr>
              <a:t>1.  Revertible effects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every context transformation carries an explicit inverse the runtime tracks; tracking and recovery preserve composition (§3.1).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2.  Reactive coeffects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a component declares its dependencies as a specification; each context change is classified activating / deactivating / neutral (§3.2).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3.  One context type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the effect context and the coeffect context unify into Γ∞; an observational equivalence on coeffects supplies effects with independence (§3.3).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4.  A calculus of dynamic composition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components with an operational lifecycle semantics; the metatheory carries spatiotemporal composability to whole systems (§4).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5.  Cordis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a meta-framework: a core library realizing the formal model, plus a declarative loader with configuration reconciliation and hot module replacement (§5).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11097156"/>
            <a:ext cx="9932670" cy="14630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11188596"/>
            <a:ext cx="956691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The base lifecycle</a:t>
            </a:r>
            <a:endParaRPr sz="1250" b="1" i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11462916"/>
            <a:ext cx="956691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500" b="1" i="1">
                <a:solidFill>
                  <a:srgbClr val="2E5596"/>
                </a:solidFill>
                <a:latin typeface="Calibri"/>
              </a:rPr>
              <a:t>Inactive  ⇄  Active</a:t>
            </a:r>
            <a:endParaRPr sz="1500" b="1" i="1">
              <a:solidFill>
                <a:srgbClr val="2E5596"/>
              </a:solidFill>
              <a:latin typeface="Calibri"/>
            </a:endParaRPr>
          </a:p>
          <a:p>
            <a:pPr algn="ctr">
              <a:lnSpc>
                <a:spcPct val="103000"/>
              </a:lnSpc>
              <a:spcBef>
                <a:spcPts val="300"/>
              </a:spcBef>
            </a:pPr>
            <a:r>
              <a:rPr sz="1150" b="0" i="0">
                <a:solidFill>
                  <a:srgbClr val="404040"/>
                </a:solidFill>
                <a:latin typeface="Calibri"/>
              </a:rPr>
              <a:t>reload runs the component's effects (accumulating their inverses); unload applies the accumulator — loading is plugging in, unloading is unplugging, with no effect on other components.</a:t>
            </a:r>
            <a:endParaRPr sz="11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29950" y="3063240"/>
            <a:ext cx="10206990" cy="566928"/>
          </a:xfrm>
          <a:prstGeom prst="rect">
            <a:avLst/>
          </a:prstGeom>
          <a:solidFill>
            <a:srgbClr val="2E5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39678" y="3063240"/>
            <a:ext cx="9987534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2 · Revertible Effects — Local Temporal Composability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67110" y="3840480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Effects are context transformations with inverses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67110" y="4114800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167110" y="4133088"/>
            <a:ext cx="10206990" cy="11356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An effect is a function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Γ → Γ × (Γ → Γ)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: applied to the current context it yields the modified context together with an explicit inverse. The twisted composition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ctr">
              <a:spcBef>
                <a:spcPts val="300"/>
              </a:spcBef>
            </a:pPr>
            <a:r>
              <a:rPr sz="1350" b="1" i="0">
                <a:solidFill>
                  <a:srgbClr val="1F3864"/>
                </a:solidFill>
                <a:latin typeface="Calibri"/>
              </a:rPr>
              <a:t>(f₁, g₁) ∘ (f₂, g₂)  ≔  (f₁ ∘ f₂,  g₂ ∘ g₁)</a:t>
            </a:r>
            <a:endParaRPr sz="1350" b="1" i="0">
              <a:solidFill>
                <a:srgbClr val="1F386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forms the twisted composition monoid 𝔗Γ (Definition 1).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67110" y="5360212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The effect context ∂Γ = Γ × (Γ → Γ)  (Definition 2)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167110" y="5634532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167110" y="5652820"/>
            <a:ext cx="10206990" cy="16349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A state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(γ, φ)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pairs the current context γ with the accumulator φ — the composite of the inverses of all effects performed so far, which recovers the initial state.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trackΓ(f, g)(γ, φ) = (f(γ), φ ∘ g)</a:t>
            </a:r>
            <a:endParaRPr sz="1300" b="1" i="0">
              <a:solidFill>
                <a:srgbClr val="1F386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recoverΓ(γ, φ) = (φ(γ), idΓ)</a:t>
            </a:r>
            <a:endParaRPr sz="1300" b="1" i="0">
              <a:solidFill>
                <a:srgbClr val="1F3864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Calibri"/>
              </a:rPr>
              <a:t>track is a monoid homomorphism 𝔗Γ → (∂Γ → ∂Γ) (Thm 5); recovery is invariant under reverted effects (Thm 7); the soundness invariant is φ(γ) = γ₀.</a:t>
            </a:r>
            <a:endParaRPr sz="12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67110" y="7379207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Effect functions 𝔈Γ and their witnesses 𝔈*Γ  (Definitions 8–12)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167110" y="7653527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167110" y="7671815"/>
            <a:ext cx="10206990" cy="11356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𝔈Γ ≔ Γ → Γ × (Γ → Γ)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  — the inverse is supplied where the effect is applied. 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e ∈ 𝔈*Γ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when (δ, g) = e(γ) implies g(δ) = γ.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f ⋄ g:  γ ↦ let (δ, s) = g(γ) in let (ε, t) = f(δ) in (ε, s ∘ t)</a:t>
            </a:r>
            <a:endParaRPr sz="1200" b="1" i="0">
              <a:solidFill>
                <a:srgbClr val="1F3864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Calibri"/>
              </a:rPr>
              <a:t>(𝔈Γ, ⋄) is a monoid; 𝔈*Γ is a submonoid; the lift effectΓ : 𝔈Γ → ∂Γ → ∂²Γ preserves ⋄ and recovers the state exactly, restoring the accumulator iff g ∘ f = idΓ (Thms 10–15).</a:t>
            </a:r>
            <a:endParaRPr sz="12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167110" y="8898939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Independence, and what it buys  (Definitions 17–19)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67110" y="9173259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167110" y="9191547"/>
            <a:ext cx="10206990" cy="182697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𝔐(e)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is the transformation monoid generated by e's forward map and every inverse it yields. Two effects are independent when all their transformations commute and neither disturbs the inverse the other yields.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Theorem 16: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LIFO reversion needs no hypothesis — each inverse meets the state its own application produced.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Corollary 21: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with pairwise independence, the inverses revert in any permutation — withdrawing one component from a running system, however interleaved.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1F3864"/>
                </a:solidFill>
                <a:latin typeface="Calibri"/>
              </a:rPr>
              <a:t>Criterion: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loading a component applies a sequence of effects and accumulates its inverses; unloading applies the accumulator — local temporal composability.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75615" y="12873355"/>
            <a:ext cx="10206990" cy="566928"/>
          </a:xfrm>
          <a:prstGeom prst="rect">
            <a:avLst/>
          </a:prstGeom>
          <a:solidFill>
            <a:srgbClr val="2E5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343" y="12873355"/>
            <a:ext cx="9987534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3 · Reactive Coeffects and the Context Paradigm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2775" y="13650595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The coeffect context  Σ ≔ (k : K) ⇀ 𝒱 k  (Definition 22)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2775" y="13924915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2775" y="13943203"/>
            <a:ext cx="1020699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A finite partial map from dependency keys to typed values.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get(k)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reads a binding;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set(k, v)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binds one, with preconditions (no double provision, no revoking absent keys). Notably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set has type 𝔈*Σ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dependency registration is itself a witnessed effect, so provision and revocation inherit automatic tracking and recovery.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775" y="14747875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Specifications and reactive notification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2775" y="15022195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12775" y="15040483"/>
            <a:ext cx="10206990" cy="175016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A specification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d ⊆ K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declares what a component requires; satisfaction is decidable: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ctr">
              <a:spcBef>
                <a:spcPts val="200"/>
              </a:spcBef>
            </a:pPr>
            <a:r>
              <a:rPr sz="1250" b="1" i="0">
                <a:solidFill>
                  <a:srgbClr val="1F3864"/>
                </a:solidFill>
                <a:latin typeface="Calibri"/>
              </a:rPr>
              <a:t>σ ⊨ d  ⟺  ∀k ∈ d. k ∈ dom(σ)</a:t>
            </a:r>
            <a:endParaRPr sz="1250" b="1" i="0">
              <a:solidFill>
                <a:srgbClr val="1F386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Every transition is classified against d (Definition 26):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ctr">
              <a:spcBef>
                <a:spcPts val="200"/>
              </a:spcBef>
            </a:pPr>
            <a:r>
              <a:rPr sz="1250" b="1" i="0">
                <a:solidFill>
                  <a:srgbClr val="2E7D32"/>
                </a:solidFill>
                <a:latin typeface="Calibri"/>
              </a:rPr>
              <a:t>notify_d(σ, σ′) = activating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 (¬satisfied → satisfied)  ·  </a:t>
            </a:r>
            <a:r>
              <a:rPr sz="1250" b="1" i="0">
                <a:solidFill>
                  <a:srgbClr val="B03030"/>
                </a:solidFill>
                <a:latin typeface="Calibri"/>
              </a:rPr>
              <a:t>deactivating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 (satisfied → ¬satisfied)  ·  </a:t>
            </a:r>
            <a:r>
              <a:rPr sz="1250" b="1" i="0">
                <a:solidFill>
                  <a:srgbClr val="404040"/>
                </a:solidFill>
                <a:latin typeface="Calibri"/>
              </a:rPr>
              <a:t>neutral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otherwise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Activation runs the component's effects (fully tracked); deactivation applies the accumulator. A component activates only where its specification is satisfied — it never reads an absent binding (local spatial composability).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2775" y="16882084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Isolation and interception  (Definitions 27–31)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2775" y="17156404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12775" y="17174692"/>
            <a:ext cx="10206990" cy="19037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Two realizations of an effect: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in-place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(mutate, undo by inverse) and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derived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(derive a fresh context, undo by discard). Isolation and interception take the derived realization outright — plain context maps with no tracked inverse.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1F3864"/>
                </a:solidFill>
                <a:latin typeface="Calibri"/>
              </a:rPr>
              <a:t>Σiso = (K ⇀ R) × ((r : R) ⇀ 𝒱 r):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a realm table ρ redirects each key to a realm; the same dependency key can bind different values in different contexts, adjusted at runtime.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1F3864"/>
                </a:solidFill>
                <a:latin typeface="Calibri"/>
              </a:rPr>
              <a:t>Σinter: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per-key metadata monoids (𝒩 k, ⊕k, εk); get(k, μ) = σ(k)(μ ⊕k ι(k)) with a right-biased merge — context metadata overrides a component's declaration, so an enclosing context can constrain a component without modifying it.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2775" y="19169912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The context paradigm: Γ∞ = μΓ. Γ × (Γ → Γ) × Σ  (Definition 32)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2775" y="19444232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12775" y="19462520"/>
            <a:ext cx="10206990" cy="19037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The unified context is self-similar: current state, accumulator, and coeffect context in one recursive type — the whole ∂-tower folds into a single entity through which every component–environment interaction passes.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Observational equivalence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: states relate when their coeffect projections bind the same keys to ≃k-related values (Definition 33). Reading Section 3.1 up to ≃, every equality still holds (Lemma 38) — recovery guarantees need not restore unobservable representation.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Independence, discharged: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operations at distinct keys are independent (Thm 40); coeffect-mediated effect functions are independent when every shared key is commutative (Thm 42). Commutativity is an obligation of the interface a provider publishes.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1002645" y="12873355"/>
            <a:ext cx="10206990" cy="5669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12373" y="12873355"/>
            <a:ext cx="9987534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4 · The Calculus, Its Metatheory, and Cordis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39805" y="13650595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Components, fibers, and ten rules  (§4)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139805" y="13924915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139805" y="13943203"/>
            <a:ext cx="10206990" cy="20958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04040"/>
                </a:solidFill>
                <a:latin typeface="Calibri"/>
              </a:rPr>
              <a:t>A component is </a:t>
            </a:r>
            <a:r>
              <a:rPr sz="1250" b="1" i="0">
                <a:solidFill>
                  <a:srgbClr val="1F3864"/>
                </a:solidFill>
                <a:latin typeface="Calibri"/>
              </a:rPr>
              <a:t>(d, p, e)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: a coeffect specification, a provision (keys its effects may write, pairwise disjoint across fibers), and a witnessed effect iterator 𝔈^{iter*}Γ. A fiber adds the lifecycle: parent π, own table σ, retirement flag τ, and the state θ.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ctr">
              <a:spcBef>
                <a:spcPts val="300"/>
              </a:spcBef>
            </a:pPr>
            <a:r>
              <a:rPr sz="1250" b="1" i="1">
                <a:solidFill>
                  <a:srgbClr val="2E5596"/>
                </a:solidFill>
                <a:latin typeface="Calibri"/>
              </a:rPr>
              <a:t>Inactive → Reloading → Active → Unloading → Inactive</a:t>
            </a:r>
            <a:endParaRPr sz="1250" b="1" i="1">
              <a:solidFill>
                <a:srgbClr val="2E5596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Calibri"/>
              </a:rPr>
              <a:t>O-Insert / O-Retire / O-Remove are the orchestrator's only inputs; L-Begin / L-Iter / L-Finish run the activation; L-Divert and L-Raise exit it early; L-Leave marks the fiber out of service before any inverse runs; L-Unload — the only rule that applies the accumulator — is guarded by ¬relied (no installed dependent may still resolve a key to this fiber). Inertia: a launched transition completes before the fiber reacts (§4.3).</a:t>
            </a:r>
            <a:endParaRPr sz="12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139805" y="16148735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Metatheory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139805" y="16423055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139805" y="16441343"/>
            <a:ext cx="10206990" cy="309432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C55A11"/>
                </a:solidFill>
                <a:latin typeface="Calibri"/>
              </a:rPr>
              <a:t>Preservation (Thm 59)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well-formedness (tree-shaped parents, disjoint provisions, committed views naming installed providers) holds across every step.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Temporal composability (Thm 61, Cor 62)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with pairwise-independent steps, a fiber's accumulator applied at any later state yields, up to control fields, the state the same steps would have produced had it never begun: a withdrawn component contributes nothing.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Spatial composability (Thm 63, Thm 64)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a fiber begins only where its dependencies are provided; its committed view is fixed for its whole episode, a provider's episode strictly contains its dependents', and every iteration runs against one resolution.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Progress (Thm 66)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with acyclic precedence, every non-quiescent state has an applicable lifecycle rule, S(n) ≤ (K+4)(V(n)+1), and every maximal sequence ends quiescent: no deadlock, no livelock.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C55A11"/>
                </a:solidFill>
                <a:latin typeface="Calibri"/>
              </a:rPr>
              <a:t>Confluence (Thm 73)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— every schedule of the same insertions and retirements quiesces at states related up to ≃ and ≈: the normal form is the statically assembled one — a Cordis application can be reasoned about as though it were compiled once, in dependency order.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139805" y="19645400"/>
            <a:ext cx="1020699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50" b="1" i="0">
                <a:solidFill>
                  <a:srgbClr val="C55A11"/>
                </a:solidFill>
                <a:latin typeface="Calibri"/>
              </a:rPr>
              <a:t>Cordis: the implementation  (§5)</a:t>
            </a:r>
            <a:endParaRPr sz="1450" b="1" i="0">
              <a:solidFill>
                <a:srgbClr val="C55A11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1139805" y="19919720"/>
            <a:ext cx="10206990" cy="45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endParaRPr sz="100" b="0" i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139805" y="19938008"/>
            <a:ext cx="10206990" cy="29791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Calibri"/>
              </a:rPr>
              <a:t>Core library: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ctx.effect realizes effect^iter (LIFO inverse composition, boundary guard); ctx.set/get, isolate, intercept realize the coeffect operations with reactive notification; ctx.use instantiates components; property access is proxy-mediated — the committed view, not the store, authorizes reads, so a deactivating component keeps its bindings readable to the very end (Algorithm 6).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1F3864"/>
                </a:solidFill>
                <a:latin typeface="Calibri"/>
              </a:rPr>
              <a:t>Loader: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declarative entries (id, url, isolate, intercept, config, disabled); incremental reconciliation with per-field dispatch; delimiter-based realm reassignment (Algorithm 7). Reconciliation is sound by Thm 73 (final state = f(final config)), Thm 66 (it quiesces), Cor 62 (a departing fiber contributes nothing), and Thm 63 (no load order to arrange — modules load concurrently).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1F3864"/>
                </a:solidFill>
                <a:latin typeface="Calibri"/>
              </a:rPr>
              <a:t>HMR: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module classification, stale-entry detection, and transactional reload with cache backup and rollback (Algorithms 8–10) — no developer-annotated acceptance boundaries, because a fiber already bounds everything a component installed.</a:t>
            </a:r>
            <a:endParaRPr sz="1250" b="0" i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1" i="0">
                <a:solidFill>
                  <a:srgbClr val="1F3864"/>
                </a:solidFill>
                <a:latin typeface="Calibri"/>
              </a:rPr>
              <a:t>Case study: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Koishi — 4,000+ community plugins over four years; disabling a plugin withdraws its effects in place, HMR re-applies edited plugins on save, and providers reactivate exactly their dependents.</a:t>
            </a:r>
            <a:endParaRPr sz="1250" b="0" i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11146</Words>
  <Application>WPS 演示</Application>
  <PresentationFormat>On-screen Show (4:3)</PresentationFormat>
  <Paragraphs>116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Helvetica Neue</vt:lpstr>
      <vt:lpstr>Arial Unicode MS</vt:lpstr>
      <vt:lpstr>MS PGothic</vt:lpstr>
      <vt:lpstr>苹方-简</vt:lpstr>
      <vt:lpstr>BatangChe</vt:lpstr>
      <vt:lpstr>Apple SD Gothic Neo</vt:lpstr>
      <vt:lpstr>DejaVu Math TeX Gyre</vt:lpstr>
      <vt:lpstr>微软雅黑</vt:lpstr>
      <vt:lpstr>方正雅意黑 GB18030L2</vt:lpstr>
      <vt:lpstr>宋体</vt:lpstr>
      <vt:lpstr>汉仪书宋二KW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白岩浩</cp:lastModifiedBy>
  <cp:revision>2</cp:revision>
  <dcterms:created xsi:type="dcterms:W3CDTF">2026-08-16T08:25:19Z</dcterms:created>
  <dcterms:modified xsi:type="dcterms:W3CDTF">2026-08-16T08:25:19Z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A2A2D70EAD9BA6E8EF73816AB0F540F8_42</vt:lpwstr>
  </property>
</Properties>
</file>